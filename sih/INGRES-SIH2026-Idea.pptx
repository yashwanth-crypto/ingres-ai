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B2C34"/>
                </a:solidFill>
                <a:latin typeface="Cambria"/>
              </a:rPr>
              <a:t>Problem Statement ID – </a:t>
            </a:r>
            <a:r>
              <a:rPr sz="1500">
                <a:solidFill>
                  <a:srgbClr val="1C1A17"/>
                </a:solidFill>
                <a:latin typeface="Calibri"/>
              </a:rPr>
              <a:t>&lt;&lt; fill from portal &gt;&gt;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C34"/>
                </a:solidFill>
                <a:latin typeface="Cambria"/>
              </a:rPr>
              <a:t>Problem Statement Title – </a:t>
            </a:r>
            <a:r>
              <a:rPr sz="1500">
                <a:solidFill>
                  <a:srgbClr val="1C1A17"/>
                </a:solidFill>
                <a:latin typeface="Calibri"/>
              </a:rPr>
              <a:t>AI-driven assistant for groundwater data access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C34"/>
                </a:solidFill>
                <a:latin typeface="Cambria"/>
              </a:rPr>
              <a:t>Theme – </a:t>
            </a:r>
            <a:r>
              <a:rPr sz="1500">
                <a:solidFill>
                  <a:srgbClr val="1C1A17"/>
                </a:solidFill>
                <a:latin typeface="Calibri"/>
              </a:rPr>
              <a:t>&lt;&lt; fill from portal &gt;&gt;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C34"/>
                </a:solidFill>
                <a:latin typeface="Cambria"/>
              </a:rPr>
              <a:t>PS Category – </a:t>
            </a:r>
            <a:r>
              <a:rPr sz="1500">
                <a:solidFill>
                  <a:srgbClr val="1C1A17"/>
                </a:solidFill>
                <a:latin typeface="Calibr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C34"/>
                </a:solidFill>
                <a:latin typeface="Cambria"/>
              </a:rPr>
              <a:t>Team ID – </a:t>
            </a:r>
            <a:r>
              <a:rPr sz="1500">
                <a:solidFill>
                  <a:srgbClr val="1C1A17"/>
                </a:solidFill>
                <a:latin typeface="Calibri"/>
              </a:rPr>
              <a:t>&lt;&lt; fill from portal &gt;&gt;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2C34"/>
                </a:solidFill>
                <a:latin typeface="Cambria"/>
              </a:rPr>
              <a:t>Team Name – </a:t>
            </a:r>
            <a:r>
              <a:rPr sz="1500">
                <a:solidFill>
                  <a:srgbClr val="1C1A17"/>
                </a:solidFill>
                <a:latin typeface="Calibri"/>
              </a:rPr>
              <a:t>&lt;&lt; your registered team name &gt;&gt;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INGRES: groundwater answers you can check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27432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 Team Name &gt;&gt;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170432"/>
            <a:ext cx="7315200" cy="2350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B2C34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600200"/>
            <a:ext cx="58064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Detailed explanation of the proposed solution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Ask in plain English; get a grounded answer with a chart, a map and a citation for every figure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Figures come from SQL over 36,879 CGWB station readings — never from the language model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Two sources by question type: the database for how much water, the CGWB report for quality and causes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How it addresses the problem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The data exists but sits in PDFs and portals a non-specialist cannot query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Removes the specialist barrier while every figure keeps its station name and date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Refuses questions outside Punjab groundwater instead of guessing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Innovation and uniqueness of the solution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Verification-first: eight deterministic checks can block an answer before it is shown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Three of five pipeline stages use no language model at all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Model-checking-model was tried and failed — it approved a Bathinda station as the source for a Ludhiana figure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Runs fully offline on a free local model: no internet, no API key, no cost per query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6537960" y="1600200"/>
            <a:ext cx="5166360" cy="3730752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6675120" y="1737360"/>
            <a:ext cx="4892040" cy="179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4E5B"/>
                </a:solidFill>
                <a:latin typeface="Calibri"/>
              </a:rPr>
              <a:t>WHY THE OBVIOUS APPROACH FAILS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675120" y="2084831"/>
            <a:ext cx="4892040" cy="1873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C1A17"/>
                </a:solidFill>
                <a:latin typeface="Calibri"/>
              </a:rPr>
              <a:t>A typical chatbot</a:t>
            </a:r>
          </a:p>
        </p:txBody>
      </p:sp>
      <p:sp>
        <p:nvSpPr>
          <p:cNvPr id="15367" name="Chevron 15366"/>
          <p:cNvSpPr/>
          <p:nvPr/>
        </p:nvSpPr>
        <p:spPr>
          <a:xfrm>
            <a:off x="6675120" y="2395728"/>
            <a:ext cx="1481328" cy="475488"/>
          </a:xfrm>
          <a:prstGeom prst="chevron">
            <a:avLst/>
          </a:prstGeom>
          <a:solidFill>
            <a:srgbClr val="D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34"/>
                </a:solidFill>
                <a:latin typeface="Calibri"/>
              </a:rPr>
              <a:t>Question</a:t>
            </a:r>
          </a:p>
        </p:txBody>
      </p:sp>
      <p:sp>
        <p:nvSpPr>
          <p:cNvPr id="15368" name="Chevron 15367"/>
          <p:cNvSpPr/>
          <p:nvPr/>
        </p:nvSpPr>
        <p:spPr>
          <a:xfrm>
            <a:off x="8183880" y="2395728"/>
            <a:ext cx="1481328" cy="475488"/>
          </a:xfrm>
          <a:prstGeom prst="chevron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Language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5369" name="Chevron 15368"/>
          <p:cNvSpPr/>
          <p:nvPr/>
        </p:nvSpPr>
        <p:spPr>
          <a:xfrm>
            <a:off x="9692640" y="2395728"/>
            <a:ext cx="1481328" cy="475488"/>
          </a:xfrm>
          <a:prstGeom prst="chevron">
            <a:avLst/>
          </a:prstGeom>
          <a:solidFill>
            <a:srgbClr val="D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34"/>
                </a:solidFill>
                <a:latin typeface="Calibri"/>
              </a:rPr>
              <a:t>Answer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675120" y="2926080"/>
            <a:ext cx="4892040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B91C1C"/>
                </a:solidFill>
                <a:latin typeface="Calibri"/>
              </a:rPr>
              <a:t>The number comes OUT of the model. Nothing can check it.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675120" y="3310128"/>
            <a:ext cx="4892040" cy="1873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C1A17"/>
                </a:solidFill>
                <a:latin typeface="Calibri"/>
              </a:rPr>
              <a:t>INGRES</a:t>
            </a:r>
          </a:p>
        </p:txBody>
      </p:sp>
      <p:sp>
        <p:nvSpPr>
          <p:cNvPr id="15372" name="Chevron 15371"/>
          <p:cNvSpPr/>
          <p:nvPr/>
        </p:nvSpPr>
        <p:spPr>
          <a:xfrm>
            <a:off x="6675120" y="3621024"/>
            <a:ext cx="1115568" cy="475488"/>
          </a:xfrm>
          <a:prstGeom prst="chevron">
            <a:avLst/>
          </a:prstGeom>
          <a:solidFill>
            <a:srgbClr val="D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0B2C34"/>
                </a:solidFill>
                <a:latin typeface="Calibri"/>
              </a:rPr>
              <a:t>Question</a:t>
            </a:r>
          </a:p>
        </p:txBody>
      </p:sp>
      <p:sp>
        <p:nvSpPr>
          <p:cNvPr id="15373" name="Chevron 15372"/>
          <p:cNvSpPr/>
          <p:nvPr/>
        </p:nvSpPr>
        <p:spPr>
          <a:xfrm>
            <a:off x="7808976" y="3621024"/>
            <a:ext cx="1115568" cy="475488"/>
          </a:xfrm>
          <a:prstGeom prst="chevron">
            <a:avLst/>
          </a:prstGeom>
          <a:solidFill>
            <a:srgbClr val="16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5374" name="Chevron 15373"/>
          <p:cNvSpPr/>
          <p:nvPr/>
        </p:nvSpPr>
        <p:spPr>
          <a:xfrm>
            <a:off x="8942832" y="3621024"/>
            <a:ext cx="1115568" cy="475488"/>
          </a:xfrm>
          <a:prstGeom prst="chevron">
            <a:avLst/>
          </a:prstGeom>
          <a:solidFill>
            <a:srgbClr val="C9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0B2C34"/>
                </a:solidFill>
                <a:latin typeface="Calibri"/>
              </a:rPr>
              <a:t>Model</a:t>
            </a:r>
          </a:p>
          <a:p>
            <a:pPr algn="ctr"/>
            <a:r>
              <a:rPr sz="700" b="0">
                <a:solidFill>
                  <a:srgbClr val="0B2C34"/>
                </a:solidFill>
                <a:latin typeface="Calibri"/>
              </a:rPr>
              <a:t>writes prose</a:t>
            </a:r>
          </a:p>
        </p:txBody>
      </p:sp>
      <p:sp>
        <p:nvSpPr>
          <p:cNvPr id="15375" name="Chevron 15374"/>
          <p:cNvSpPr/>
          <p:nvPr/>
        </p:nvSpPr>
        <p:spPr>
          <a:xfrm>
            <a:off x="10076688" y="3621024"/>
            <a:ext cx="1115568" cy="475488"/>
          </a:xfrm>
          <a:prstGeom prst="chevron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8 checks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6675120" y="4151376"/>
            <a:ext cx="4892040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5803D"/>
                </a:solidFill>
                <a:latin typeface="Calibri"/>
              </a:rPr>
              <a:t>The number goes INTO the model, and is checked again on the way out.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675120" y="4956048"/>
            <a:ext cx="4892040" cy="179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C34"/>
                </a:solidFill>
                <a:latin typeface="Calibri"/>
              </a:rPr>
              <a:t>An unverifiable answer is shown as raw data, never as confident prose.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27432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 Team Name &gt;&gt;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8872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Technologies to be used (e.g. programming languages, frameworks, hardware)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572768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C1A17"/>
                </a:solidFill>
                <a:latin typeface="Calibri"/>
              </a:rPr>
              <a:t>•  Backend: FastAPI · PostgreSQL · SQLAlchemy · NumPy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C1A17"/>
                </a:solidFill>
                <a:latin typeface="Calibri"/>
              </a:rPr>
              <a:t>•  Frontend: React · Recharts · Leaflet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72200" y="1572768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C1A17"/>
                </a:solidFill>
                <a:latin typeface="Calibri"/>
              </a:rPr>
              <a:t>•  AI: Ollama running qwen2.5:7b locally · nomic-embed-text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C1A17"/>
                </a:solidFill>
                <a:latin typeface="Calibri"/>
              </a:rPr>
              <a:t>•  No vector database — 178 passages is a NumPy dot product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2724912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Methodology and process for implementation (Flow Charts/Images/ working prototype)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457200" y="3200400"/>
            <a:ext cx="2229307" cy="868680"/>
          </a:xfrm>
          <a:prstGeom prst="chevron">
            <a:avLst/>
          </a:prstGeom>
          <a:solidFill>
            <a:srgbClr val="C9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0B2C34"/>
                </a:solidFill>
                <a:latin typeface="Calibri"/>
              </a:rPr>
              <a:t>Query</a:t>
            </a:r>
          </a:p>
          <a:p>
            <a:pPr algn="ctr"/>
            <a:r>
              <a:rPr sz="950" b="0">
                <a:solidFill>
                  <a:srgbClr val="0B2C34"/>
                </a:solidFill>
                <a:latin typeface="Calibri"/>
              </a:rPr>
              <a:t>understanding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4114800"/>
            <a:ext cx="2229307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A08A6D"/>
                </a:solidFill>
                <a:latin typeface="Calibri"/>
              </a:rPr>
              <a:t>LLM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2723083" y="3200400"/>
            <a:ext cx="2229307" cy="868680"/>
          </a:xfrm>
          <a:prstGeom prst="chevron">
            <a:avLst/>
          </a:prstGeom>
          <a:solidFill>
            <a:srgbClr val="16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723083" y="4114800"/>
            <a:ext cx="2229307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D6473"/>
                </a:solidFill>
                <a:latin typeface="Calibri"/>
              </a:rPr>
              <a:t>CODE</a:t>
            </a:r>
          </a:p>
        </p:txBody>
      </p:sp>
      <p:sp>
        <p:nvSpPr>
          <p:cNvPr id="17418" name="Chevron 17417"/>
          <p:cNvSpPr/>
          <p:nvPr/>
        </p:nvSpPr>
        <p:spPr>
          <a:xfrm>
            <a:off x="4988966" y="3200400"/>
            <a:ext cx="2229307" cy="868680"/>
          </a:xfrm>
          <a:prstGeom prst="chevron">
            <a:avLst/>
          </a:prstGeom>
          <a:solidFill>
            <a:srgbClr val="16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Calculation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988966" y="4114800"/>
            <a:ext cx="2229307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D6473"/>
                </a:solidFill>
                <a:latin typeface="Calibri"/>
              </a:rPr>
              <a:t>CODE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7254849" y="3200400"/>
            <a:ext cx="2229307" cy="868680"/>
          </a:xfrm>
          <a:prstGeom prst="chevron">
            <a:avLst/>
          </a:prstGeom>
          <a:solidFill>
            <a:srgbClr val="C9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0B2C34"/>
                </a:solidFill>
                <a:latin typeface="Calibri"/>
              </a:rPr>
              <a:t>Response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254849" y="4114800"/>
            <a:ext cx="2229307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A08A6D"/>
                </a:solidFill>
                <a:latin typeface="Calibri"/>
              </a:rPr>
              <a:t>LLM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9520732" y="3200400"/>
            <a:ext cx="2229307" cy="868680"/>
          </a:xfrm>
          <a:prstGeom prst="chevron">
            <a:avLst/>
          </a:prstGeom>
          <a:solidFill>
            <a:srgbClr val="16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Verification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520732" y="4114800"/>
            <a:ext cx="2229307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D6473"/>
                </a:solidFill>
                <a:latin typeface="Calibri"/>
              </a:rPr>
              <a:t>CODE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4361688"/>
            <a:ext cx="11292840" cy="195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C34"/>
                </a:solidFill>
                <a:latin typeface="Calibri"/>
              </a:rPr>
              <a:t>Three of the five stages involve no language model. Every number passes through code.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457200" y="4736592"/>
            <a:ext cx="11292840" cy="1207008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94360" y="4828031"/>
            <a:ext cx="5486400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4E5B"/>
                </a:solidFill>
                <a:latin typeface="Calibri"/>
              </a:rPr>
              <a:t>WHERE THE DATA COMES FROM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94360" y="5065776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C34"/>
                </a:solidFill>
                <a:latin typeface="Calibri"/>
              </a:rPr>
              <a:t>CGWB CSV exports  →  cleaning  →  PostgreSQL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5752"/>
                </a:solidFill>
                <a:latin typeface="Calibri"/>
              </a:rPr>
              <a:t>36,879 readings · 1,607 stations · 1996–2024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263640" y="5065776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C34"/>
                </a:solidFill>
                <a:latin typeface="Calibri"/>
              </a:rPr>
              <a:t>CGWB report PDF  →  chunking  →  vectors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C5752"/>
                </a:solidFill>
                <a:latin typeface="Calibri"/>
              </a:rPr>
              <a:t>178 passages · printed pages 1–78 · 153 assessment blocks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27432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 Team Name &gt;&gt;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88720"/>
            <a:ext cx="69037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Analysis of the feasibility of the idea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Built and running end to end on real CGWB data — a working prototype, not a concept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Runs on one machine with no runtime network dependency; zero recurring cost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Source data is public and officially published — no access or licensing risk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133 automated tests cover the deterministic core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Potential challenges and risks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A language model inventing a plausible figure — the central risk for any water tool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Single-user: one local model, no request queue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One report in the semantic corpus; database is CGWB's published set to 2024, not live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Deployment blocked in development — the network blocked every database port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Strategies for overcoming these challenges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Eight blocking checks plus an advisory model reviewer; failure degrades to raw data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Add a request queue and per-question timeout for concurrent users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Corpus expansion is metadata-ready — each passage records its section, districts and scope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Deploy inside the cloud network, where the port restriction does not apply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7635240" y="1188720"/>
            <a:ext cx="4114800" cy="470916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772400" y="1325880"/>
            <a:ext cx="3840480" cy="179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4E5B"/>
                </a:solidFill>
                <a:latin typeface="Calibri"/>
              </a:rPr>
              <a:t>THE VERIFICATION GATE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458200" y="1691640"/>
            <a:ext cx="2468880" cy="457200"/>
          </a:xfrm>
          <a:prstGeom prst="roundRect">
            <a:avLst>
              <a:gd name="adj" fmla="val 25000"/>
            </a:avLst>
          </a:prstGeom>
          <a:solidFill>
            <a:srgbClr val="D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0B2C34"/>
                </a:solidFill>
                <a:latin typeface="Calibri"/>
              </a:rPr>
              <a:t>Draft answer</a:t>
            </a:r>
          </a:p>
        </p:txBody>
      </p:sp>
      <p:sp>
        <p:nvSpPr>
          <p:cNvPr id="17414" name="Down Arrow 17413"/>
          <p:cNvSpPr/>
          <p:nvPr/>
        </p:nvSpPr>
        <p:spPr>
          <a:xfrm>
            <a:off x="9555480" y="2194560"/>
            <a:ext cx="274320" cy="274320"/>
          </a:xfrm>
          <a:prstGeom prst="downArrow">
            <a:avLst/>
          </a:prstGeom>
          <a:solidFill>
            <a:srgbClr val="1D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8458200" y="2514600"/>
            <a:ext cx="2468880" cy="566928"/>
          </a:xfrm>
          <a:prstGeom prst="roundRect">
            <a:avLst>
              <a:gd name="adj" fmla="val 25000"/>
            </a:avLst>
          </a:prstGeom>
          <a:solidFill>
            <a:srgbClr val="16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Eight checks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citations · figures · districts · years · units</a:t>
            </a:r>
          </a:p>
        </p:txBody>
      </p:sp>
      <p:sp>
        <p:nvSpPr>
          <p:cNvPr id="17416" name="Down Arrow 17415"/>
          <p:cNvSpPr/>
          <p:nvPr/>
        </p:nvSpPr>
        <p:spPr>
          <a:xfrm>
            <a:off x="8595360" y="3136392"/>
            <a:ext cx="256032" cy="274320"/>
          </a:xfrm>
          <a:prstGeom prst="down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7" name="Down Arrow 17416"/>
          <p:cNvSpPr/>
          <p:nvPr/>
        </p:nvSpPr>
        <p:spPr>
          <a:xfrm>
            <a:off x="10515600" y="3136392"/>
            <a:ext cx="256032" cy="274320"/>
          </a:xfrm>
          <a:prstGeom prst="downArrow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744967" y="3145536"/>
            <a:ext cx="804672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5803D"/>
                </a:solidFill>
                <a:latin typeface="Calibri"/>
              </a:rPr>
              <a:t>pass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835640" y="3145536"/>
            <a:ext cx="822960" cy="171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B91C1C"/>
                </a:solidFill>
                <a:latin typeface="Calibri"/>
              </a:rPr>
              <a:t>fail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818119" y="3474720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Answer shown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with citations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738359" y="3474720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Raw data shown,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marked unverified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772400" y="4315968"/>
            <a:ext cx="3840480" cy="322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B2C34"/>
                </a:solidFill>
                <a:latin typeface="Calibri"/>
              </a:rPr>
              <a:t>An unverifiable answer is never shown as if it were verified. The system fails to data, not to silence and not to a confident guess.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772400" y="4983480"/>
            <a:ext cx="3840480" cy="4413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5752"/>
                </a:solidFill>
                <a:latin typeface="Calibri"/>
              </a:rPr>
              <a:t>Six distinct failure paths are handled: out of scope · no quality data · district with no readings · checks rejected · model unusable · model unreachable.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27432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 Team Name &gt;&gt;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88720"/>
            <a:ext cx="60350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Potential impact on the target audience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Farmers and panchayats deciding where and how deep to drill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District and block officials, and CGWB field staff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Policy researchers, students and journalists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Benefits of the solution (social, economic, environmental, etc.)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B2C34"/>
                </a:solidFill>
                <a:latin typeface="Calibri"/>
              </a:rPr>
              <a:t>Social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Groundwater status becomes answerable by anyone who can type a question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Every answer is citable, so decisions taken from it can be audited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B2C34"/>
                </a:solidFill>
                <a:latin typeface="Calibri"/>
              </a:rPr>
              <a:t>Economic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Better-informed borewell and cropping decisions; avoids drilling into a falling table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No licensing or per-query cost — deployable without a budget line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B2C34"/>
                </a:solidFill>
                <a:latin typeface="Calibri"/>
              </a:rPr>
              <a:t>Environmental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Makes a slow crisis visible: 20 of 23 assessed districts are over-exploited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C1A17"/>
                </a:solidFill>
                <a:latin typeface="Calibri"/>
              </a:rPr>
              <a:t>•  Trend and projection views turn depletion into something a non-specialist can see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766560" y="1417320"/>
            <a:ext cx="4937760" cy="379476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903720" y="1527048"/>
            <a:ext cx="4663440" cy="179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4E5B"/>
                </a:solidFill>
                <a:latin typeface="Calibri"/>
              </a:rPr>
              <a:t>PUNJAB, BY CGWB CATEGORY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8344293" y="2504983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4" name="Oval 17413"/>
          <p:cNvSpPr/>
          <p:nvPr/>
        </p:nvSpPr>
        <p:spPr>
          <a:xfrm>
            <a:off x="9211004" y="384802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8513348" y="4036356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6" name="Oval 17415"/>
          <p:cNvSpPr/>
          <p:nvPr/>
        </p:nvSpPr>
        <p:spPr>
          <a:xfrm>
            <a:off x="8108934" y="3609282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10612902" y="3589930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7269480" y="3871454"/>
            <a:ext cx="155448" cy="15544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8080145" y="331563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0" name="Oval 17419"/>
          <p:cNvSpPr/>
          <p:nvPr/>
        </p:nvSpPr>
        <p:spPr>
          <a:xfrm>
            <a:off x="8905205" y="2310747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9726284" y="2567419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9391544" y="3001520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3" name="Oval 17422"/>
          <p:cNvSpPr/>
          <p:nvPr/>
        </p:nvSpPr>
        <p:spPr>
          <a:xfrm>
            <a:off x="9140565" y="284425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9773448" y="3416269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9096770" y="4325112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8683628" y="3484104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7778175" y="3924520"/>
            <a:ext cx="155448" cy="15544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9361224" y="1920240"/>
            <a:ext cx="155448" cy="15544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10650419" y="3923807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10726677" y="3214599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1" name="Oval 17430"/>
          <p:cNvSpPr/>
          <p:nvPr/>
        </p:nvSpPr>
        <p:spPr>
          <a:xfrm>
            <a:off x="11045952" y="3611116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9818774" y="3988688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10211397" y="3120384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8219034" y="2861777"/>
            <a:ext cx="155448" cy="1554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5" name="Oval 17434"/>
          <p:cNvSpPr/>
          <p:nvPr/>
        </p:nvSpPr>
        <p:spPr>
          <a:xfrm>
            <a:off x="7040880" y="4645152"/>
            <a:ext cx="118872" cy="11887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7205472" y="4617720"/>
            <a:ext cx="1828800" cy="179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C1A17"/>
                </a:solidFill>
                <a:latin typeface="Calibri"/>
              </a:rPr>
              <a:t>Over-exploited — 20 districts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9189720" y="4645152"/>
            <a:ext cx="118872" cy="11887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9354312" y="4617720"/>
            <a:ext cx="1828800" cy="179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C1A17"/>
                </a:solidFill>
                <a:latin typeface="Calibri"/>
              </a:rPr>
              <a:t>Safe — 3 districts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040880" y="4882896"/>
            <a:ext cx="4389120" cy="274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C5752"/>
                </a:solidFill>
                <a:latin typeface="Calibri"/>
              </a:rPr>
              <a:t>Each dot is a district, placed by the mean coordinate of its monitoring stations. Malerkotla is categorised but has no stations, so it is named rather than plotted.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27432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&lt;&lt; Team Name &gt;&gt;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234440"/>
            <a:ext cx="11292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4E5B"/>
                </a:solidFill>
                <a:latin typeface="Cambria"/>
              </a:rPr>
              <a:t>Details / Links of the reference and research work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100" b="1">
                <a:solidFill>
                  <a:srgbClr val="0B2C34"/>
                </a:solidFill>
                <a:latin typeface="Calibri"/>
              </a:rPr>
              <a:t>•  CGWB — Ground Water Resources of Punjab (as on 31 March 2024)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5752"/>
                </a:solidFill>
                <a:latin typeface="Calibri"/>
              </a:rPr>
              <a:t>    Block-wise resources and the water-quality chapters. Source of all 153 block assessments and the 178 indexed passages.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100" b="1">
                <a:solidFill>
                  <a:srgbClr val="0B2C34"/>
                </a:solidFill>
                <a:latin typeface="Calibri"/>
              </a:rPr>
              <a:t>•  National Water Data Portal (NWIC) — Ground Water Level, Manual Quarterly, CGWB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5752"/>
                </a:solidFill>
                <a:latin typeface="Calibri"/>
              </a:rPr>
              <a:t>    36,879 readings across 1,607 stations, 1996–2024.  nwdp.nwic.gov.in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100" b="1">
                <a:solidFill>
                  <a:srgbClr val="0B2C34"/>
                </a:solidFill>
                <a:latin typeface="Calibri"/>
              </a:rPr>
              <a:t>•  GEC-2015 — Ground Water Estimation Committee methodology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5752"/>
                </a:solidFill>
                <a:latin typeface="Calibri"/>
              </a:rPr>
              <a:t>    The assessment methodology CGWB's resource estimation follows.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100" b="1">
                <a:solidFill>
                  <a:srgbClr val="0B2C34"/>
                </a:solidFill>
                <a:latin typeface="Calibri"/>
              </a:rPr>
              <a:t>•  BIS IS 10500 — Drinking Water Specification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5752"/>
                </a:solidFill>
                <a:latin typeface="Calibri"/>
              </a:rPr>
              <a:t>    Limits used in the report's quality chapter, e.g. fluoride 1.5 mg/L, uranium 0.03 mg/L.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100" b="1">
                <a:solidFill>
                  <a:srgbClr val="0B2C34"/>
                </a:solidFill>
                <a:latin typeface="Calibri"/>
              </a:rPr>
              <a:t>•  CGWB INGRES — India Ground Water Resource Estimation System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5752"/>
                </a:solidFill>
                <a:latin typeface="Calibri"/>
              </a:rPr>
              <a:t>    The national assessment system this assistant is designed to support.  ingres.iith.ac.in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050" b="1">
                <a:solidFill>
                  <a:srgbClr val="164E5B"/>
                </a:solidFill>
                <a:latin typeface="Cambria"/>
              </a:rPr>
              <a:t>Methodology note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C1A17"/>
                </a:solidFill>
                <a:latin typeface="Calibri"/>
              </a:rPr>
              <a:t>CGWB classifies assessment blocks, never districts. District categories shown by the system are derived from block counts, which are stored alongside as the supporting evidence. Cross-checking the extraction against a second table in the same report corrected four categories.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